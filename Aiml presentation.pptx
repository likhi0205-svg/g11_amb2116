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-57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R² Score by Model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4DBDBD"/>
            </a:solidFill>
            <a:effectLst/>
          </c:spPr>
          <c:dPt>
            <c:idx val="0"/>
          </c:dPt>
          <c:dPt>
            <c:idx val="1"/>
            <c:spPr>
              <a:solidFill>
                <a:srgbClr val="2E8B57"/>
              </a:solidFill>
              <a:effectLst/>
            </c:spPr>
          </c:dPt>
          <c:dPt>
            <c:idx val="2"/>
            <c:spPr>
              <a:solidFill>
                <a:srgbClr val="F4A228"/>
              </a:solidFill>
              <a:effectLst/>
            </c:spPr>
          </c:dPt>
          <c:dPt>
            <c:idx val="3"/>
            <c:spPr>
              <a:solidFill>
                <a:srgbClr val="E84040"/>
              </a:solidFill>
              <a:effectLst/>
            </c:spPr>
          </c:dPt>
          <c:dPt>
            <c:idx val="4"/>
            <c:spPr>
              <a:solidFill>
                <a:srgbClr val="1A6B6B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SLR</c:v>
                </c:pt>
                <c:pt idx="1">
                  <c:v>MLR</c:v>
                </c:pt>
                <c:pt idx="2">
                  <c:v>SVR</c:v>
                </c:pt>
                <c:pt idx="3">
                  <c:v>ANN</c:v>
                </c:pt>
                <c:pt idx="4">
                  <c:v>DTR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0.94400000000000006</c:v>
                </c:pt>
                <c:pt idx="1">
                  <c:v>0.99429999999999996</c:v>
                </c:pt>
                <c:pt idx="2">
                  <c:v>0.94900000000000007</c:v>
                </c:pt>
                <c:pt idx="3">
                  <c:v>0</c:v>
                </c:pt>
                <c:pt idx="4">
                  <c:v>0.99780000000000002</c:v>
                </c:pt>
              </c:numCache>
            </c:numRef>
          </c:val>
        </c:ser>
        <c:dLbls>
          <c:showVal val="1"/>
        </c:dLbls>
        <c:axId val="120298112"/>
        <c:axId val="120316288"/>
      </c:barChart>
      <c:catAx>
        <c:axId val="12029811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EEEE"/>
                </a:solidFill>
                <a:latin typeface="Arial"/>
              </a:defRPr>
            </a:pPr>
            <a:endParaRPr lang="en-US"/>
          </a:p>
        </c:txPr>
        <c:crossAx val="120316288"/>
        <c:crosses val="autoZero"/>
        <c:auto val="1"/>
        <c:lblAlgn val="ctr"/>
        <c:lblOffset val="100"/>
        <c:noMultiLvlLbl val="1"/>
      </c:catAx>
      <c:valAx>
        <c:axId val="120316288"/>
        <c:scaling>
          <c:orientation val="minMax"/>
        </c:scaling>
        <c:axPos val="l"/>
        <c:majorGridlines>
          <c:spPr>
            <a:ln w="6350" cap="flat">
              <a:solidFill>
                <a:srgbClr val="2A8F8F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EEEE"/>
                </a:solidFill>
                <a:latin typeface="Arial"/>
              </a:defRPr>
            </a:pPr>
            <a:endParaRPr lang="en-US"/>
          </a:p>
        </c:txPr>
        <c:crossAx val="120298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504F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RMSE (L/day) by Model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 (L/day)</c:v>
                </c:pt>
              </c:strCache>
            </c:strRef>
          </c:tx>
          <c:spPr>
            <a:solidFill>
              <a:srgbClr val="4DBDBD"/>
            </a:solidFill>
            <a:effectLst/>
          </c:spPr>
          <c:dPt>
            <c:idx val="0"/>
          </c:dPt>
          <c:dPt>
            <c:idx val="1"/>
            <c:spPr>
              <a:solidFill>
                <a:srgbClr val="2E8B57"/>
              </a:solidFill>
              <a:effectLst/>
            </c:spPr>
          </c:dPt>
          <c:dPt>
            <c:idx val="2"/>
            <c:spPr>
              <a:solidFill>
                <a:srgbClr val="F4A228"/>
              </a:solidFill>
              <a:effectLst/>
            </c:spPr>
          </c:dPt>
          <c:dPt>
            <c:idx val="3"/>
            <c:spPr>
              <a:solidFill>
                <a:srgbClr val="E84040"/>
              </a:solidFill>
              <a:effectLst/>
            </c:spPr>
          </c:dPt>
          <c:dPt>
            <c:idx val="4"/>
            <c:spPr>
              <a:solidFill>
                <a:srgbClr val="1A6B6B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SLR</c:v>
                </c:pt>
                <c:pt idx="1">
                  <c:v>MLR</c:v>
                </c:pt>
                <c:pt idx="2">
                  <c:v>SVR</c:v>
                </c:pt>
                <c:pt idx="3">
                  <c:v>ANN</c:v>
                </c:pt>
                <c:pt idx="4">
                  <c:v>DTR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1.204</c:v>
                </c:pt>
                <c:pt idx="1">
                  <c:v>0.37900000000000006</c:v>
                </c:pt>
                <c:pt idx="2">
                  <c:v>1.091</c:v>
                </c:pt>
                <c:pt idx="3">
                  <c:v>12.212999999999999</c:v>
                </c:pt>
                <c:pt idx="4">
                  <c:v>0.26500000000000001</c:v>
                </c:pt>
              </c:numCache>
            </c:numRef>
          </c:val>
        </c:ser>
        <c:dLbls>
          <c:showVal val="1"/>
        </c:dLbls>
        <c:axId val="122120064"/>
        <c:axId val="122121600"/>
      </c:barChart>
      <c:catAx>
        <c:axId val="12212006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EEEE"/>
                </a:solidFill>
                <a:latin typeface="Arial"/>
              </a:defRPr>
            </a:pPr>
            <a:endParaRPr lang="en-US"/>
          </a:p>
        </c:txPr>
        <c:crossAx val="122121600"/>
        <c:crosses val="autoZero"/>
        <c:auto val="1"/>
        <c:lblAlgn val="ctr"/>
        <c:lblOffset val="100"/>
        <c:noMultiLvlLbl val="1"/>
      </c:catAx>
      <c:valAx>
        <c:axId val="122121600"/>
        <c:scaling>
          <c:orientation val="minMax"/>
        </c:scaling>
        <c:axPos val="l"/>
        <c:majorGridlines>
          <c:spPr>
            <a:ln w="6350" cap="flat">
              <a:solidFill>
                <a:srgbClr val="2A8F8F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EEEE"/>
                </a:solidFill>
                <a:latin typeface="Arial"/>
              </a:defRPr>
            </a:pPr>
            <a:endParaRPr lang="en-US"/>
          </a:p>
        </c:txPr>
        <c:crossAx val="12212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504F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BENGALURU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Agriculture, GKVK – 560065 | EAI-421: AI &amp; ML in Agriculture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MACHINE LEARNING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PREDICTION OF MILK OUTPUT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FEED TYPE &amp; FEED QUANTITY IN DAIRY CATTLE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572000" cy="36576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LIKITHA H C (AMB2116)  |  BHAVANI L (AMC2013)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</a:t>
            </a:r>
            <a:r>
              <a:rPr lang="en-US" sz="11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Teacher, AI &amp; ML in Agriculture, COA, UAS, GKVK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109728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25400">
            <a:solidFill>
              <a:srgbClr val="4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743200"/>
            <a:ext cx="1097280" cy="109728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4A2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65760" cy="347472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65760" cy="347472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365760" cy="347472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94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249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365760" cy="347472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28712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365760" cy="347472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Dataset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" cy="347472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365760" cy="347472"/>
          </a:xfrm>
          <a:prstGeom prst="ellipse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05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 Used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1627632"/>
            <a:ext cx="365760" cy="347472"/>
          </a:xfrm>
          <a:prstGeom prst="ellipse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6276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49240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46320" y="2249424"/>
            <a:ext cx="365760" cy="347472"/>
          </a:xfrm>
          <a:prstGeom prst="ellipse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2494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49240" y="2249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46320" y="2871216"/>
            <a:ext cx="365760" cy="347472"/>
          </a:xfrm>
          <a:prstGeom prst="ellipse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871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49240" y="28712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46320" y="3493008"/>
            <a:ext cx="365760" cy="347472"/>
          </a:xfrm>
          <a:prstGeom prst="ellipse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930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49240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0" y="960120"/>
            <a:ext cx="3017520" cy="3931920"/>
          </a:xfrm>
          <a:prstGeom prst="rect">
            <a:avLst/>
          </a:prstGeom>
          <a:solidFill>
            <a:srgbClr val="2A8F8F">
              <a:alpha val="25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8404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05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world's largest milk producer (24% global share), yet yield per animal remains low.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55064"/>
            <a:ext cx="54864" cy="38404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5506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livestock farming integrates AI, ML &amp; IoT to optimize productivity and resource use.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54864" cy="38404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042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milk yield prediction is critical for feed optimization, cost efficiency &amp; resource allocation.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54864" cy="38404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535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estimation methods rely on empirical observations and are often inaccurate.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02736"/>
            <a:ext cx="54864" cy="38404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0273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systems can learn non-linear patterns from farm data, enabling low-cost advisory tools.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54864" cy="38404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251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applies 5 ML algorithms to predict daily milk output from feed type and quantity.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milk share (India)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dairy farmers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records analyzed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3E0"/>
          </a:solidFill>
          <a:ln w="25400">
            <a:solidFill>
              <a:srgbClr val="F4A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farmers lack accurate, low-cost tools to predict milk yield based on feeding decisions. Traditional methods are generalized and fail to capture individual animal and feed-specific variations — leading to suboptimal resource allocation and economic losses.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23160"/>
            <a:ext cx="2697480" cy="10972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786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99923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structured datasets linking feed parameters directly to individual animal milk output.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24231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2423160"/>
            <a:ext cx="2697480" cy="10972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5786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299923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comparing ML models (linear vs. non-linear) on feed-based dairy prediction tasks.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54496" y="24231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2423160"/>
            <a:ext cx="2697480" cy="10972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5786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299923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interpretable, farm-deployable ML tools for precision feeding advisory in smallholder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118872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78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Agricultural Productivity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dairy sector contributes ~5% of agricultural GDP. Even a 10% improvement in feed efficiency could generate billions in rural income.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206240" cy="118872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78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Revolution in Farming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92040" y="14447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IoT are transforming precision agriculture globally — dairy management is a natural fit for data-driven optimization.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206240" cy="118872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Reduce Feed Waste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accounts for 60-70% of dairy production costs. Accurate yield prediction enables precise ration formulation, reducing overfeeding.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4206240" cy="118872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Empower Smallholders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 smallholder farmers in India lack access to expert veterinary advisory. Deployable ML tools can bridge this gap affordably.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206240" cy="118872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Sustainability Goals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0965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feeding reduces methane emissions per unit of milk produced, aligning with national climate commitments.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Benchmark Need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40965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comparison of ML models on dairy data is needed to guide adoption of the most suitable algorithm for real-farm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Objectives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84048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structured dataset of 100 dairy cattle records with feed type, feed quantity, water intake, breed index, and daily milk output.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36776"/>
            <a:ext cx="384048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367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63677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compare five supervised ML algorithms: Simple Linear Regression (SLR), Multiple Linear Regression (MLR), Support Vector Machine (SVR), Artificial Neural Network (ANN), and Decision Tree Regression (DTR).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384048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1343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134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 using R² Score, Root Mean Squared Error (RMSE), and Mean Absolute Error (MAE) to identify the most accurate and interpretable model.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384048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00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008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relative importance of Feed Type (categorical) vs. Feed Quantity (continuous) as predictors of milk yield.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384048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667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66674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hyperparameter tuning (GridSearchCV) to the best-performing model to optimize generalizability for real-farm deployment.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384048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434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3434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for precision dairy management and establish a replicable ML framework for livestock yield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Milk Output Prediction 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structured cattle feeding records simulating typical Indian mixed-breed dairy farm conditions.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846320" cy="530352"/>
          </a:xfrm>
          <a:prstGeom prst="rect">
            <a:avLst/>
          </a:prstGeom>
          <a:solidFill>
            <a:srgbClr val="2A8F8F">
              <a:alpha val="22000"/>
            </a:srgbClr>
          </a:solidFill>
          <a:ln w="19050">
            <a:solidFill>
              <a:srgbClr val="F4A2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93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Type: 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65960" y="19293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Hay=1, Silage=2, Concentrate=3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4846320" cy="530352"/>
          </a:xfrm>
          <a:prstGeom prst="rect">
            <a:avLst/>
          </a:prstGeom>
          <a:solidFill>
            <a:srgbClr val="2A8F8F">
              <a:alpha val="22000"/>
            </a:srgbClr>
          </a:solidFill>
          <a:ln w="19050">
            <a:solidFill>
              <a:srgbClr val="4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5420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Quantity: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65960" y="25420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kg/day (5–20 kg range)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4846320" cy="530352"/>
          </a:xfrm>
          <a:prstGeom prst="rect">
            <a:avLst/>
          </a:prstGeom>
          <a:solidFill>
            <a:srgbClr val="2A8F8F">
              <a:alpha val="22000"/>
            </a:srgbClr>
          </a:solidFill>
          <a:ln w="19050">
            <a:solidFill>
              <a:srgbClr val="7ECB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154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EC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Intake: 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65960" y="3154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litres/day (supplementary)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4846320" cy="530352"/>
          </a:xfrm>
          <a:prstGeom prst="rect">
            <a:avLst/>
          </a:prstGeom>
          <a:solidFill>
            <a:srgbClr val="2A8F8F">
              <a:alpha val="22000"/>
            </a:srgbClr>
          </a:solidFill>
          <a:ln w="19050">
            <a:solidFill>
              <a:srgbClr val="BBA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673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B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Index: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65960" y="37673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1–5 scale (covariate)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25112"/>
            <a:ext cx="4846320" cy="530352"/>
          </a:xfrm>
          <a:prstGeom prst="rect">
            <a:avLst/>
          </a:prstGeom>
          <a:solidFill>
            <a:srgbClr val="2A8F8F">
              <a:alpha val="22000"/>
            </a:srgbClr>
          </a:solidFill>
          <a:ln w="19050">
            <a:solidFill>
              <a:srgbClr val="F9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3799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Output: 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65960" y="43799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litres/day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914400"/>
            <a:ext cx="3108960" cy="3931920"/>
          </a:xfrm>
          <a:prstGeom prst="rect">
            <a:avLst/>
          </a:prstGeom>
          <a:solidFill>
            <a:srgbClr val="1A6B6B">
              <a:alpha val="6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Strategy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1554480"/>
            <a:ext cx="2194560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80%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 records)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2377440"/>
            <a:ext cx="2194560" cy="64008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 20%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records)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3200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35040" y="35661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R² Score (accuracy)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8862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RMSE (L/day)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206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MAE (L/day)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Dataset — Sample Records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960120"/>
          <a:ext cx="8229600" cy="347472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371600"/>
                <a:gridCol w="1097280"/>
                <a:gridCol w="1188720"/>
                <a:gridCol w="1828800"/>
              </a:tblGrid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Cattle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Qty (kg)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(L)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Breed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 Output (L)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Silage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 (3)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Silage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 (3)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Silage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Sample from 100-record dataset. Feed Type: Hay=1, Silage=2, Concentrate=3.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Methodology — 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261872" cy="1005840"/>
          </a:xfrm>
          <a:prstGeom prst="rect">
            <a:avLst/>
          </a:prstGeom>
          <a:solidFill>
            <a:srgbClr val="2A8F8F">
              <a:alpha val="40000"/>
            </a:srgbClr>
          </a:solidFill>
          <a:ln w="19050">
            <a:solidFill>
              <a:srgbClr val="4DBD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795528"/>
            <a:ext cx="457200" cy="45720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2471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61848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cattle records with feed &amp; yield data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0" y="1554480"/>
            <a:ext cx="128016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051560"/>
            <a:ext cx="1261872" cy="1005840"/>
          </a:xfrm>
          <a:prstGeom prst="rect">
            <a:avLst/>
          </a:prstGeom>
          <a:solidFill>
            <a:srgbClr val="2A8F8F">
              <a:alpha val="40000"/>
            </a:srgbClr>
          </a:solidFill>
          <a:ln w="19050">
            <a:solidFill>
              <a:srgbClr val="4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85416" y="795528"/>
            <a:ext cx="457200" cy="45720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85416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12471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83080" y="161848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normalization, missing value handling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63240" y="1554480"/>
            <a:ext cx="128016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51560"/>
            <a:ext cx="1261872" cy="1005840"/>
          </a:xfrm>
          <a:prstGeom prst="rect">
            <a:avLst/>
          </a:prstGeom>
          <a:solidFill>
            <a:srgbClr val="2A8F8F">
              <a:alpha val="40000"/>
            </a:srgbClr>
          </a:solidFill>
          <a:ln w="19050">
            <a:solidFill>
              <a:srgbClr val="4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2736" y="795528"/>
            <a:ext cx="457200" cy="45720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112471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161848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FeedType (cat) + FeedQty (cont) as inputs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80560" y="1554480"/>
            <a:ext cx="128016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051560"/>
            <a:ext cx="1261872" cy="1005840"/>
          </a:xfrm>
          <a:prstGeom prst="rect">
            <a:avLst/>
          </a:prstGeom>
          <a:solidFill>
            <a:srgbClr val="2A8F8F">
              <a:alpha val="40000"/>
            </a:srgbClr>
          </a:solidFill>
          <a:ln w="19050">
            <a:solidFill>
              <a:srgbClr val="4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0056" y="795528"/>
            <a:ext cx="457200" cy="45720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0056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112471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161848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split; 5 ML algorithms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97880" y="1554480"/>
            <a:ext cx="128016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051560"/>
            <a:ext cx="1261872" cy="1005840"/>
          </a:xfrm>
          <a:prstGeom prst="rect">
            <a:avLst/>
          </a:prstGeom>
          <a:solidFill>
            <a:srgbClr val="2A8F8F">
              <a:alpha val="40000"/>
            </a:srgbClr>
          </a:solidFill>
          <a:ln w="19050">
            <a:solidFill>
              <a:srgbClr val="4DBD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7376" y="795528"/>
            <a:ext cx="457200" cy="45720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112471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0" y="161848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MAE on 20% test set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0" y="1554480"/>
            <a:ext cx="128016" cy="0"/>
          </a:xfrm>
          <a:prstGeom prst="line">
            <a:avLst/>
          </a:prstGeom>
          <a:noFill/>
          <a:ln w="25400">
            <a:solidFill>
              <a:srgbClr val="F4A2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1051560"/>
            <a:ext cx="1261872" cy="1005840"/>
          </a:xfrm>
          <a:prstGeom prst="rect">
            <a:avLst/>
          </a:prstGeom>
          <a:solidFill>
            <a:srgbClr val="2A8F8F">
              <a:alpha val="40000"/>
            </a:srgbClr>
          </a:solidFill>
          <a:ln w="19050">
            <a:solidFill>
              <a:srgbClr val="4DBD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54696" y="795528"/>
            <a:ext cx="457200" cy="45720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54696" y="795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52360" y="1124712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52360" y="161848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charts + deployment insights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Applied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2880360"/>
            <a:ext cx="1572768" cy="1965960"/>
          </a:xfrm>
          <a:prstGeom prst="rect">
            <a:avLst/>
          </a:prstGeom>
          <a:solidFill>
            <a:srgbClr val="1A6B6B">
              <a:alpha val="7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880360"/>
            <a:ext cx="1572768" cy="73152"/>
          </a:xfrm>
          <a:prstGeom prst="rect">
            <a:avLst/>
          </a:prstGeom>
          <a:solidFill>
            <a:srgbClr val="4DBDBD"/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57200" y="3520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297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03120" y="2880360"/>
            <a:ext cx="1572768" cy="1965960"/>
          </a:xfrm>
          <a:prstGeom prst="rect">
            <a:avLst/>
          </a:prstGeom>
          <a:solidFill>
            <a:srgbClr val="1A6B6B">
              <a:alpha val="7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03120" y="2880360"/>
            <a:ext cx="1572768" cy="73152"/>
          </a:xfrm>
          <a:prstGeom prst="rect">
            <a:avLst/>
          </a:prstGeom>
          <a:solidFill>
            <a:srgbClr val="4DBDBD"/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0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194560" y="3520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194560" y="4297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0480" y="2880360"/>
            <a:ext cx="1572768" cy="1965960"/>
          </a:xfrm>
          <a:prstGeom prst="rect">
            <a:avLst/>
          </a:prstGeom>
          <a:solidFill>
            <a:srgbClr val="1A6B6B">
              <a:alpha val="7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0" y="2880360"/>
            <a:ext cx="1572768" cy="73152"/>
          </a:xfrm>
          <a:prstGeom prst="rect">
            <a:avLst/>
          </a:prstGeom>
          <a:solidFill>
            <a:srgbClr val="4DBDBD"/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931920" y="3520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Regression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931920" y="4297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77840" y="2880360"/>
            <a:ext cx="1572768" cy="1965960"/>
          </a:xfrm>
          <a:prstGeom prst="rect">
            <a:avLst/>
          </a:prstGeom>
          <a:solidFill>
            <a:srgbClr val="1A6B6B">
              <a:alpha val="7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2880360"/>
            <a:ext cx="1572768" cy="73152"/>
          </a:xfrm>
          <a:prstGeom prst="rect">
            <a:avLst/>
          </a:prstGeom>
          <a:solidFill>
            <a:srgbClr val="4DBDBD"/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0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669280" y="3520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0" y="4297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15200" y="2880360"/>
            <a:ext cx="1572768" cy="1965960"/>
          </a:xfrm>
          <a:prstGeom prst="rect">
            <a:avLst/>
          </a:prstGeom>
          <a:solidFill>
            <a:srgbClr val="1A6B6B">
              <a:alpha val="7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15200" y="2880360"/>
            <a:ext cx="1572768" cy="73152"/>
          </a:xfrm>
          <a:prstGeom prst="rect">
            <a:avLst/>
          </a:prstGeom>
          <a:solidFill>
            <a:srgbClr val="4DBDBD"/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0" y="299923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DTR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7406640" y="3520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406640" y="4297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Tools &amp; Technology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91440" cy="117043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627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data processing, model building and visualization.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91440" cy="117043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56048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6048" y="1627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SLR, MLR, SVR, ANN (MLPRegressor), DTR, GridSearchCV.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86000"/>
            <a:ext cx="91440" cy="117043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2624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" y="29535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creation, feature encoding, train-test split.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91440" cy="117043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56048" y="2624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56048" y="29535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plots, regression lines, bar charts for model comparison.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11880"/>
            <a:ext cx="91440" cy="117043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8368" y="4279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development, inline plotting, code documentation.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11880"/>
            <a:ext cx="91440" cy="117043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(5-fold CV)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956048" y="4279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for Decision Tree Regression.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Results — Model Performance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486400" y="914400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DTR achieves highest R²=0.9978 and lowest RMSE=0.265 L/day   |   ⚠ ANN underperformed due to convergence failure on small dataset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Results — Performance Comparison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960120"/>
          <a:ext cx="822960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371600"/>
                <a:gridCol w="1371600"/>
                <a:gridCol w="292608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(L/day)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(L/day)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single-variable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interpretability + accuracy 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kernel; limited by small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failure (500 iter limit)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DTR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 — natural threshold splits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1234440"/>
          </a:xfrm>
          <a:prstGeom prst="rect">
            <a:avLst/>
          </a:prstGeom>
          <a:solidFill>
            <a:srgbClr val="2A8F8F">
              <a:alpha val="22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914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881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Superiority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DTR (R²=0.9978) excels because the categorical, threshold-based feed data creates natural partitions that binary tree splitting can perfectly capture.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06240" cy="1234440"/>
          </a:xfrm>
          <a:prstGeom prst="rect">
            <a:avLst/>
          </a:prstGeom>
          <a:solidFill>
            <a:srgbClr val="2A8F8F">
              <a:alpha val="22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4206240" cy="914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881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— Best Practical Balance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MLR's coefficient of 2.259 L/kg directly quantifies the marginal effect of FeedQty, enabling straightforward cost-benefit analysis for farm managers.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4206240" cy="1234440"/>
          </a:xfrm>
          <a:prstGeom prst="rect">
            <a:avLst/>
          </a:prstGeom>
          <a:solidFill>
            <a:srgbClr val="2A8F8F">
              <a:alpha val="22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13432"/>
            <a:ext cx="4206240" cy="914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41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— Theoretically Sound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770632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SVR's moderate performance (R²=0.949) reflects dataset size limitations. Its RBF kernel advantage would materialize with larger, multi-feature datasets.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313432"/>
            <a:ext cx="4206240" cy="1234440"/>
          </a:xfrm>
          <a:prstGeom prst="rect">
            <a:avLst/>
          </a:prstGeom>
          <a:solidFill>
            <a:srgbClr val="2A8F8F">
              <a:alpha val="22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313432"/>
            <a:ext cx="4206240" cy="914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441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Convergence Issue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770632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80 training samples with 2 features create a flat loss surface. Increasing max_iter to 2000 or applying batch normalization would substantially improve ANN.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4206240" cy="1234440"/>
          </a:xfrm>
          <a:prstGeom prst="rect">
            <a:avLst/>
          </a:prstGeom>
          <a:solidFill>
            <a:srgbClr val="2A8F8F">
              <a:alpha val="22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66744"/>
            <a:ext cx="4206240" cy="914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Quantity as Primary Driver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12394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FeedQty is the dominant predictor; FeedType contributes a categorical offset. MLR's negative FeedType coefficient reveals nuanced interaction when both features are present.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666744"/>
            <a:ext cx="4206240" cy="1234440"/>
          </a:xfrm>
          <a:prstGeom prst="rect">
            <a:avLst/>
          </a:prstGeom>
          <a:solidFill>
            <a:srgbClr val="2A8F8F">
              <a:alpha val="22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666744"/>
            <a:ext cx="4206240" cy="914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94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412394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simple ML models achieve R² &gt; 0.88, confirming viability of low-cost, data-driven precision feeding for smallholder dairy in India and globally.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92608" cy="292608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3716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Regression achieved the best performance (R²=0.9978, RMSE=0.265 L/day), leveraging the categorical structure of feed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292608" cy="292608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0756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provides the optimal balance of interpretability and accuracy (R²=0.9943, RMSE=0.379 L/day) — ideal for practical farm deployment.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292608" cy="292608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277977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Quantity (kg/day) is the primary quantitative determinant; Feed Type creates categorical partitions in the milk yield distribution.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292608" cy="292608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48386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underperformed due to convergence issues with small datasets (n=80 training); it would benefit from larger datasets and more iterations.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292608" cy="292608"/>
          </a:xfrm>
          <a:prstGeom prst="ellipse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41879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systems represent a practical, low-cost, high-accuracy alternative to generalized feeding tables for Indian dairy operations.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Replicable framework applicable to diverse breeds, IoT integration, and scalable national dairy advisory systems.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87552"/>
            <a:ext cx="2743200" cy="178308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78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536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Networks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90195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temporal dynamics of milk yield across lactation cycles using recurrent neural networks.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987552"/>
            <a:ext cx="2743200" cy="178308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078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37560" y="1536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0195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ensemble boosting for larger datasets with genomic markers, health records, and environmental features.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987552"/>
            <a:ext cx="2743200" cy="178308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078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63640" y="1536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90195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models trained on Holstein/Murrah data to indigenous breeds (Gir, Sahiwal) with minimal data.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2743200" cy="178308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" y="3502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86791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transparent, feature-level attribution for each prediction to aid farm manager trust and adoption.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2953512"/>
            <a:ext cx="2743200" cy="178308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37560" y="3502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86791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+ automated dispensers for real-time per-animal feed adjustment, reducing waste by 15-25%.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2953512"/>
            <a:ext cx="2743200" cy="1783080"/>
          </a:xfrm>
          <a:prstGeom prst="rect">
            <a:avLst/>
          </a:prstGeom>
          <a:solidFill>
            <a:srgbClr val="2A8F8F">
              <a:alpha val="20000"/>
            </a:srgbClr>
          </a:solidFill>
          <a:ln w="12700">
            <a:solidFill>
              <a:srgbClr val="4DBD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63640" y="3502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86791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(Kannada, Hindi, English) farmer-facing app delivering ML-based feeding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8F8F"/>
          </a:solidFill>
          <a:ln w="12700">
            <a:solidFill>
              <a:srgbClr val="2A8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4592" cy="16459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BHATT, P. AND RAO, S., 2010, Regression-based milk yield prediction from feed type and quantity. J. Dairy Sci. India, 12(3): 45-52.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4663440" y="960120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GRZESIAK, W. ET AL., 2012, Neural network and multiple regression predictions for lactation yield. Canadian J. Anim. Sci., 83(2): 307-310.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LIAKOS, K.G. ET AL., 2018, Machine learning in agriculture: A review. Sensors, 18(8), 2674.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663440" y="170992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MORITA, G. ET AL., 2017, Big data analytics and precision animal agriculture symposium. J. Anim. Sci., 96(4): 1521-1530.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2459736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PINEDO, P. ET AL., 2020, Machine learning for dairy herd management decisions. J. Dairy Sci., 103(12): 11729-11745.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663440" y="2459736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RIEKERT, M. ET AL., 2022, Decision tree regression for structured cattle milk yield datasets. Comput. Electron. Agric., 195: 106784.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57200" y="320954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SINGH, R. ET AL., 2023, AI applications in Indian dairy sector: Random Forest for milk yield prediction. Indian J. Comput. Appl., 18(2): 55-66.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663440" y="320954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KUMAR, R. ET AL., 2024, Deep learning for dairy IoT: CNN-LSTM hybrid for milk yield prediction. Smart Agric. Technol., 6: 100-112.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FAO, 2025, Digital Livestock Farming Report: Transforming Cattle Management through AI and IoT. FAO, Rome.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663440" y="3959352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WOLFERT, S. ET AL., 2017, Big data in smart farming: A review. Agric. Syst., 153: 69-80.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COCKBURN, M., 2019, Application of ML for management of dairy farms. Animals, 9(10), 704.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663440" y="4709160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BHAKT, M. ET AL., 2021, Factors affecting milk production in Karan Fries cattle. Indian J. Anim. Sci., 91(5): 412-417.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LIKITHA H C (AMB2116)  |  BHAVANI L (AMC2013)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Agriculture, GKVK, UAS Bengaluru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011680" cy="7315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3291840"/>
            <a:ext cx="2011680" cy="73152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"ML-based precision feeding: a scalable, low-cost tool for the future of Indian dairy."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2009</Words>
  <Application>Microsoft Office PowerPoint</Application>
  <PresentationFormat>On-screen Show (16:9)</PresentationFormat>
  <Paragraphs>332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for Milk Output Prediction</dc:title>
  <dc:subject>PptxGenJS Presentation</dc:subject>
  <dc:creator>LIKITHA H C &amp; BHAVANI L</dc:creator>
  <cp:lastModifiedBy>Latitude</cp:lastModifiedBy>
  <cp:revision>1</cp:revision>
  <dcterms:created xsi:type="dcterms:W3CDTF">2026-04-14T11:11:56Z</dcterms:created>
  <dcterms:modified xsi:type="dcterms:W3CDTF">2026-04-16T04:56:59Z</dcterms:modified>
</cp:coreProperties>
</file>